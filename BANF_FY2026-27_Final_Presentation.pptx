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07" r:id="rId7"/>
    <p:sldId id="261" r:id="rId8"/>
    <p:sldId id="313" r:id="rId9"/>
    <p:sldId id="314" r:id="rId10"/>
    <p:sldId id="266" r:id="rId11"/>
    <p:sldId id="308" r:id="rId12"/>
    <p:sldId id="309" r:id="rId13"/>
    <p:sldId id="310" r:id="rId14"/>
    <p:sldId id="311" r:id="rId15"/>
    <p:sldId id="31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EC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56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900" b="1">
                <a:solidFill>
                  <a:srgbClr val="1B365F"/>
                </a:solidFill>
              </a:rPr>
              <a:t>(a) Income &amp; Expenses by EC Term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Opening</c:v>
                </c:pt>
              </c:strCache>
            </c:strRef>
          </c:tx>
          <c:spPr>
            <a:solidFill>
              <a:srgbClr val="6C757D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2020-22</c:v>
                </c:pt>
                <c:pt idx="1">
                  <c:v>2022-24</c:v>
                </c:pt>
                <c:pt idx="2">
                  <c:v>2024-26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2558</c:v>
                </c:pt>
                <c:pt idx="1">
                  <c:v>1249</c:v>
                </c:pt>
                <c:pt idx="2">
                  <c:v>2883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339-4868-8B00-6849B4A04B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2E86AB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2020-22</c:v>
                </c:pt>
                <c:pt idx="1">
                  <c:v>2022-24</c:v>
                </c:pt>
                <c:pt idx="2">
                  <c:v>2024-26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21958</c:v>
                </c:pt>
                <c:pt idx="1">
                  <c:v>69757</c:v>
                </c:pt>
                <c:pt idx="2">
                  <c:v>104733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339-4868-8B00-6849B4A04B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Expense</c:v>
                </c:pt>
              </c:strCache>
            </c:strRef>
          </c:tx>
          <c:spPr>
            <a:solidFill>
              <a:srgbClr val="C58C2B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2020-22</c:v>
                </c:pt>
                <c:pt idx="1">
                  <c:v>2022-24</c:v>
                </c:pt>
                <c:pt idx="2">
                  <c:v>2024-26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20709</c:v>
                </c:pt>
                <c:pt idx="1">
                  <c:v>66874</c:v>
                </c:pt>
                <c:pt idx="2">
                  <c:v>99914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339-4868-8B00-6849B4A04B6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Net (Closing)</c:v>
                </c:pt>
              </c:strCache>
            </c:strRef>
          </c:tx>
          <c:spPr>
            <a:solidFill>
              <a:srgbClr val="1B365F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2020-22</c:v>
                </c:pt>
                <c:pt idx="1">
                  <c:v>2022-24</c:v>
                </c:pt>
                <c:pt idx="2">
                  <c:v>2024-26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1249</c:v>
                </c:pt>
                <c:pt idx="1">
                  <c:v>2883</c:v>
                </c:pt>
                <c:pt idx="2">
                  <c:v>4819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339-4868-8B00-6849B4A04B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55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900" b="1">
                <a:solidFill>
                  <a:srgbClr val="1B365F"/>
                </a:solidFill>
              </a:rPr>
              <a:t>(b) Membership vs Sponsorship vs Donations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Membership</c:v>
                </c:pt>
              </c:strCache>
            </c:strRef>
          </c:tx>
          <c:spPr>
            <a:solidFill>
              <a:srgbClr val="1B365F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5B7CA5"/>
              </a:solidFill>
            </c:spPr>
            <c:extLst>
              <c:ext xmlns:c16="http://schemas.microsoft.com/office/drawing/2014/chart" uri="{C3380CC4-5D6E-409C-BE32-E72D297353CC}">
                <c16:uniqueId val="{00000001-330F-46B7-BCBC-ECBC22884EFA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  <c:pt idx="3">
                  <c:v>23-24</c:v>
                </c:pt>
                <c:pt idx="4">
                  <c:v>24-25</c:v>
                </c:pt>
                <c:pt idx="5">
                  <c:v>25-26</c:v>
                </c:pt>
                <c:pt idx="6">
                  <c:v>P'27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6750</c:v>
                </c:pt>
                <c:pt idx="1">
                  <c:v>8361</c:v>
                </c:pt>
                <c:pt idx="2">
                  <c:v>12470</c:v>
                </c:pt>
                <c:pt idx="3">
                  <c:v>13380</c:v>
                </c:pt>
                <c:pt idx="4">
                  <c:v>19777</c:v>
                </c:pt>
                <c:pt idx="5">
                  <c:v>23885</c:v>
                </c:pt>
                <c:pt idx="6">
                  <c:v>29435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30F-46B7-BCBC-ECBC22884E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Sponsorship</c:v>
                </c:pt>
              </c:strCache>
            </c:strRef>
          </c:tx>
          <c:spPr>
            <a:solidFill>
              <a:srgbClr val="C58C2B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E8D6A0"/>
              </a:solidFill>
            </c:spPr>
            <c:extLst>
              <c:ext xmlns:c16="http://schemas.microsoft.com/office/drawing/2014/chart" uri="{C3380CC4-5D6E-409C-BE32-E72D297353CC}">
                <c16:uniqueId val="{00000004-330F-46B7-BCBC-ECBC22884EFA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  <c:pt idx="3">
                  <c:v>23-24</c:v>
                </c:pt>
                <c:pt idx="4">
                  <c:v>24-25</c:v>
                </c:pt>
                <c:pt idx="5">
                  <c:v>25-26</c:v>
                </c:pt>
                <c:pt idx="6">
                  <c:v>P'27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1225</c:v>
                </c:pt>
                <c:pt idx="1">
                  <c:v>3372</c:v>
                </c:pt>
                <c:pt idx="2">
                  <c:v>12002</c:v>
                </c:pt>
                <c:pt idx="3">
                  <c:v>11526</c:v>
                </c:pt>
                <c:pt idx="4">
                  <c:v>15551</c:v>
                </c:pt>
                <c:pt idx="5">
                  <c:v>25986</c:v>
                </c:pt>
                <c:pt idx="6">
                  <c:v>25986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330F-46B7-BCBC-ECBC22884E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Donations</c:v>
                </c:pt>
              </c:strCache>
            </c:strRef>
          </c:tx>
          <c:spPr>
            <a:solidFill>
              <a:srgbClr val="8E44AD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C48ED0"/>
              </a:solidFill>
            </c:spPr>
            <c:extLst>
              <c:ext xmlns:c16="http://schemas.microsoft.com/office/drawing/2014/chart" uri="{C3380CC4-5D6E-409C-BE32-E72D297353CC}">
                <c16:uniqueId val="{00000007-330F-46B7-BCBC-ECBC22884EFA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  <c:pt idx="3">
                  <c:v>23-24</c:v>
                </c:pt>
                <c:pt idx="4">
                  <c:v>24-25</c:v>
                </c:pt>
                <c:pt idx="5">
                  <c:v>25-26</c:v>
                </c:pt>
                <c:pt idx="6">
                  <c:v>P'27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459</c:v>
                </c:pt>
                <c:pt idx="1">
                  <c:v>706</c:v>
                </c:pt>
                <c:pt idx="2">
                  <c:v>3047</c:v>
                </c:pt>
                <c:pt idx="3">
                  <c:v>4557</c:v>
                </c:pt>
                <c:pt idx="4">
                  <c:v>3083</c:v>
                </c:pt>
                <c:pt idx="5">
                  <c:v>2000</c:v>
                </c:pt>
                <c:pt idx="6">
                  <c:v>2000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330F-46B7-BCBC-ECBC22884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55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900" b="1">
                <a:solidFill>
                  <a:srgbClr val="1B365F"/>
                </a:solidFill>
              </a:rPr>
              <a:t>(c) Sponsors + Donations Breakdown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Member Sponsors</c:v>
                </c:pt>
              </c:strCache>
            </c:strRef>
          </c:tx>
          <c:spPr>
            <a:solidFill>
              <a:srgbClr val="2E86AB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7ABCCF"/>
              </a:solidFill>
            </c:spPr>
            <c:extLst>
              <c:ext xmlns:c16="http://schemas.microsoft.com/office/drawing/2014/chart" uri="{C3380CC4-5D6E-409C-BE32-E72D297353CC}">
                <c16:uniqueId val="{00000001-7988-4A34-8A95-B4D2354F7FF3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  <c:pt idx="3">
                  <c:v>23-24</c:v>
                </c:pt>
                <c:pt idx="4">
                  <c:v>24-25</c:v>
                </c:pt>
                <c:pt idx="5">
                  <c:v>25-26</c:v>
                </c:pt>
                <c:pt idx="6">
                  <c:v>P'27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735</c:v>
                </c:pt>
                <c:pt idx="1">
                  <c:v>1686</c:v>
                </c:pt>
                <c:pt idx="2">
                  <c:v>3200</c:v>
                </c:pt>
                <c:pt idx="3">
                  <c:v>2800</c:v>
                </c:pt>
                <c:pt idx="4">
                  <c:v>3297</c:v>
                </c:pt>
                <c:pt idx="5">
                  <c:v>5000</c:v>
                </c:pt>
                <c:pt idx="6">
                  <c:v>5000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988-4A34-8A95-B4D2354F7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Sponsors</c:v>
                </c:pt>
              </c:strCache>
            </c:strRef>
          </c:tx>
          <c:spPr>
            <a:solidFill>
              <a:srgbClr val="C58C2B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E8D6A0"/>
              </a:solidFill>
            </c:spPr>
            <c:extLst>
              <c:ext xmlns:c16="http://schemas.microsoft.com/office/drawing/2014/chart" uri="{C3380CC4-5D6E-409C-BE32-E72D297353CC}">
                <c16:uniqueId val="{00000004-7988-4A34-8A95-B4D2354F7FF3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  <c:pt idx="3">
                  <c:v>23-24</c:v>
                </c:pt>
                <c:pt idx="4">
                  <c:v>24-25</c:v>
                </c:pt>
                <c:pt idx="5">
                  <c:v>25-26</c:v>
                </c:pt>
                <c:pt idx="6">
                  <c:v>P'27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490</c:v>
                </c:pt>
                <c:pt idx="1">
                  <c:v>1686</c:v>
                </c:pt>
                <c:pt idx="2">
                  <c:v>8802</c:v>
                </c:pt>
                <c:pt idx="3">
                  <c:v>4169</c:v>
                </c:pt>
                <c:pt idx="4">
                  <c:v>12254</c:v>
                </c:pt>
                <c:pt idx="5">
                  <c:v>18986</c:v>
                </c:pt>
                <c:pt idx="6">
                  <c:v>18986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7988-4A34-8A95-B4D2354F7F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Donations</c:v>
                </c:pt>
              </c:strCache>
            </c:strRef>
          </c:tx>
          <c:spPr>
            <a:solidFill>
              <a:srgbClr val="8E44AD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C48ED0"/>
              </a:solidFill>
            </c:spPr>
            <c:extLst>
              <c:ext xmlns:c16="http://schemas.microsoft.com/office/drawing/2014/chart" uri="{C3380CC4-5D6E-409C-BE32-E72D297353CC}">
                <c16:uniqueId val="{00000007-7988-4A34-8A95-B4D2354F7FF3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  <c:pt idx="3">
                  <c:v>23-24</c:v>
                </c:pt>
                <c:pt idx="4">
                  <c:v>24-25</c:v>
                </c:pt>
                <c:pt idx="5">
                  <c:v>25-26</c:v>
                </c:pt>
                <c:pt idx="6">
                  <c:v>P'27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459</c:v>
                </c:pt>
                <c:pt idx="1">
                  <c:v>706</c:v>
                </c:pt>
                <c:pt idx="2">
                  <c:v>3047</c:v>
                </c:pt>
                <c:pt idx="3">
                  <c:v>4557</c:v>
                </c:pt>
                <c:pt idx="4">
                  <c:v>3083</c:v>
                </c:pt>
                <c:pt idx="5">
                  <c:v>2000</c:v>
                </c:pt>
                <c:pt idx="6">
                  <c:v>2000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7988-4A34-8A95-B4D2354F7F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55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900" b="1">
                <a:solidFill>
                  <a:srgbClr val="1B365F"/>
                </a:solidFill>
              </a:rPr>
              <a:t>(e) Events per Year + 2026-27 Proposed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Core (Membership)</c:v>
                </c:pt>
              </c:strCache>
            </c:strRef>
          </c:tx>
          <c:spPr>
            <a:solidFill>
              <a:srgbClr val="2E86AB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CBD5E0"/>
              </a:solidFill>
            </c:spPr>
            <c:extLst>
              <c:ext xmlns:c16="http://schemas.microsoft.com/office/drawing/2014/chart" uri="{C3380CC4-5D6E-409C-BE32-E72D297353CC}">
                <c16:uniqueId val="{00000001-1C7B-4728-8E38-A4BA4F2C1B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  <c:pt idx="3">
                  <c:v>23-24</c:v>
                </c:pt>
                <c:pt idx="4">
                  <c:v>24-25</c:v>
                </c:pt>
                <c:pt idx="5">
                  <c:v>25-26</c:v>
                </c:pt>
                <c:pt idx="6">
                  <c:v>P'27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C7B-4728-8E38-A4BA4F2C1B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Add-on (Paid)</c:v>
                </c:pt>
              </c:strCache>
            </c:strRef>
          </c:tx>
          <c:spPr>
            <a:solidFill>
              <a:srgbClr val="C58C2B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E8D6A0"/>
              </a:solidFill>
            </c:spPr>
            <c:extLst>
              <c:ext xmlns:c16="http://schemas.microsoft.com/office/drawing/2014/chart" uri="{C3380CC4-5D6E-409C-BE32-E72D297353CC}">
                <c16:uniqueId val="{00000004-1C7B-4728-8E38-A4BA4F2C1B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  <c:pt idx="3">
                  <c:v>23-24</c:v>
                </c:pt>
                <c:pt idx="4">
                  <c:v>24-25</c:v>
                </c:pt>
                <c:pt idx="5">
                  <c:v>25-26</c:v>
                </c:pt>
                <c:pt idx="6">
                  <c:v>P'27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1C7B-4728-8E38-A4BA4F2C1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55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1B365F"/>
                </a:solidFill>
              </a:defRPr>
            </a:pPr>
            <a:r>
              <a:rPr lang="en-US"/>
              <a:t>Membership Income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 2026-27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86AB"/>
              </a:solidFill>
            </c:spPr>
            <c:extLst>
              <c:ext xmlns:c16="http://schemas.microsoft.com/office/drawing/2014/chart" uri="{C3380CC4-5D6E-409C-BE32-E72D297353CC}">
                <c16:uniqueId val="{00000001-021C-4013-A958-315EE6B1FC5B}"/>
              </c:ext>
            </c:extLst>
          </c:dPt>
          <c:dPt>
            <c:idx val="1"/>
            <c:invertIfNegative val="1"/>
            <c:bubble3D val="0"/>
            <c:spPr>
              <a:solidFill>
                <a:srgbClr val="2B568F"/>
              </a:solidFill>
            </c:spPr>
            <c:extLst>
              <c:ext xmlns:c16="http://schemas.microsoft.com/office/drawing/2014/chart" uri="{C3380CC4-5D6E-409C-BE32-E72D297353CC}">
                <c16:uniqueId val="{00000003-021C-4013-A958-315EE6B1FC5B}"/>
              </c:ext>
            </c:extLst>
          </c:dPt>
          <c:dPt>
            <c:idx val="2"/>
            <c:invertIfNegative val="1"/>
            <c:bubble3D val="0"/>
            <c:spPr>
              <a:solidFill>
                <a:srgbClr val="1B365F"/>
              </a:solidFill>
            </c:spPr>
            <c:extLst>
              <c:ext xmlns:c16="http://schemas.microsoft.com/office/drawing/2014/chart" uri="{C3380CC4-5D6E-409C-BE32-E72D297353CC}">
                <c16:uniqueId val="{00000005-021C-4013-A958-315EE6B1FC5B}"/>
              </c:ext>
            </c:extLst>
          </c:dPt>
          <c:dPt>
            <c:idx val="3"/>
            <c:invertIfNegative val="1"/>
            <c:bubble3D val="0"/>
            <c:spPr>
              <a:solidFill>
                <a:srgbClr val="8E44AD"/>
              </a:solidFill>
            </c:spPr>
            <c:extLst>
              <c:ext xmlns:c16="http://schemas.microsoft.com/office/drawing/2014/chart" uri="{C3380CC4-5D6E-409C-BE32-E72D297353CC}">
                <c16:uniqueId val="{00000007-021C-4013-A958-315EE6B1FC5B}"/>
              </c:ext>
            </c:extLst>
          </c:dPt>
          <c:dPt>
            <c:idx val="4"/>
            <c:invertIfNegative val="1"/>
            <c:bubble3D val="0"/>
            <c:spPr>
              <a:solidFill>
                <a:srgbClr val="C58C2B"/>
              </a:solidFill>
            </c:spPr>
            <c:extLst>
              <c:ext xmlns:c16="http://schemas.microsoft.com/office/drawing/2014/chart" uri="{C3380CC4-5D6E-409C-BE32-E72D297353CC}">
                <c16:uniqueId val="{00000009-021C-4013-A958-315EE6B1FC5B}"/>
              </c:ext>
            </c:extLst>
          </c:dPt>
          <c:dPt>
            <c:idx val="5"/>
            <c:invertIfNegative val="1"/>
            <c:bubble3D val="0"/>
            <c:spPr>
              <a:solidFill>
                <a:srgbClr val="E67E22"/>
              </a:solidFill>
            </c:spPr>
            <c:extLst>
              <c:ext xmlns:c16="http://schemas.microsoft.com/office/drawing/2014/chart" uri="{C3380CC4-5D6E-409C-BE32-E72D297353CC}">
                <c16:uniqueId val="{0000000B-021C-4013-A958-315EE6B1FC5B}"/>
              </c:ext>
            </c:extLst>
          </c:dPt>
          <c:dPt>
            <c:idx val="6"/>
            <c:invertIfNegative val="1"/>
            <c:bubble3D val="0"/>
            <c:spPr>
              <a:solidFill>
                <a:srgbClr val="27AE60"/>
              </a:solidFill>
            </c:spPr>
            <c:extLst>
              <c:ext xmlns:c16="http://schemas.microsoft.com/office/drawing/2014/chart" uri="{C3380CC4-5D6E-409C-BE32-E72D297353CC}">
                <c16:uniqueId val="{0000000D-021C-4013-A958-315EE6B1FC5B}"/>
              </c:ext>
            </c:extLst>
          </c:dPt>
          <c:dPt>
            <c:idx val="7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F-021C-4013-A958-315EE6B1FC5B}"/>
              </c:ext>
            </c:extLst>
          </c:dPt>
          <c:dPt>
            <c:idx val="8"/>
            <c:invertIfNegative val="1"/>
            <c:bubble3D val="0"/>
            <c:spPr>
              <a:solidFill>
                <a:srgbClr val="6C757D"/>
              </a:solidFill>
            </c:spPr>
            <c:extLst>
              <c:ext xmlns:c16="http://schemas.microsoft.com/office/drawing/2014/chart" uri="{C3380CC4-5D6E-409C-BE32-E72D297353CC}">
                <c16:uniqueId val="{00000011-021C-4013-A958-315EE6B1FC5B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M2 Early Bird</c:v>
                </c:pt>
                <c:pt idx="1">
                  <c:v>M2 Premium</c:v>
                </c:pt>
                <c:pt idx="2">
                  <c:v>M1 Regular</c:v>
                </c:pt>
                <c:pt idx="3">
                  <c:v>Cultural Special</c:v>
                </c:pt>
                <c:pt idx="4">
                  <c:v>DP Special-1</c:v>
                </c:pt>
                <c:pt idx="5">
                  <c:v>DP Special-2</c:v>
                </c:pt>
                <c:pt idx="6">
                  <c:v>Cultural (New)</c:v>
                </c:pt>
                <c:pt idx="7">
                  <c:v>DP w/Artist (New)</c:v>
                </c:pt>
                <c:pt idx="8">
                  <c:v>DP w/o Artist (New)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10070</c:v>
                </c:pt>
                <c:pt idx="1">
                  <c:v>2490</c:v>
                </c:pt>
                <c:pt idx="2">
                  <c:v>6065</c:v>
                </c:pt>
                <c:pt idx="3">
                  <c:v>1825</c:v>
                </c:pt>
                <c:pt idx="4">
                  <c:v>2195</c:v>
                </c:pt>
                <c:pt idx="5">
                  <c:v>1240</c:v>
                </c:pt>
                <c:pt idx="6">
                  <c:v>1800</c:v>
                </c:pt>
                <c:pt idx="7">
                  <c:v>2250</c:v>
                </c:pt>
                <c:pt idx="8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21C-4013-A958-315EE6B1FC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>
                <a:solidFill>
                  <a:srgbClr val="2D374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3810">
              <a:solidFill>
                <a:srgbClr val="CBD5E0"/>
              </a:solidFill>
            </a:ln>
          </c:spPr>
        </c:majorGridlines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600">
                <a:solidFill>
                  <a:srgbClr val="2D374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1B365F"/>
                </a:solidFill>
              </a:defRPr>
            </a:pPr>
            <a:r>
              <a:rPr lang="en-US"/>
              <a:t>Total Projected Income: $68,921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dPt>
            <c:idx val="0"/>
            <c:bubble3D val="0"/>
            <c:spPr>
              <a:solidFill>
                <a:srgbClr val="1B365F"/>
              </a:solidFill>
            </c:spPr>
            <c:extLst>
              <c:ext xmlns:c16="http://schemas.microsoft.com/office/drawing/2014/chart" uri="{C3380CC4-5D6E-409C-BE32-E72D297353CC}">
                <c16:uniqueId val="{00000001-6323-4DD3-84E2-D30F6AD2C0FE}"/>
              </c:ext>
            </c:extLst>
          </c:dPt>
          <c:dPt>
            <c:idx val="1"/>
            <c:bubble3D val="0"/>
            <c:spPr>
              <a:solidFill>
                <a:srgbClr val="C58C2B"/>
              </a:solidFill>
            </c:spPr>
            <c:extLst>
              <c:ext xmlns:c16="http://schemas.microsoft.com/office/drawing/2014/chart" uri="{C3380CC4-5D6E-409C-BE32-E72D297353CC}">
                <c16:uniqueId val="{00000003-6323-4DD3-84E2-D30F6AD2C0FE}"/>
              </c:ext>
            </c:extLst>
          </c:dPt>
          <c:dPt>
            <c:idx val="2"/>
            <c:bubble3D val="0"/>
            <c:spPr>
              <a:solidFill>
                <a:srgbClr val="2E86AB"/>
              </a:solidFill>
            </c:spPr>
            <c:extLst>
              <c:ext xmlns:c16="http://schemas.microsoft.com/office/drawing/2014/chart" uri="{C3380CC4-5D6E-409C-BE32-E72D297353CC}">
                <c16:uniqueId val="{00000005-6323-4DD3-84E2-D30F6AD2C0FE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Membership</c:v>
                </c:pt>
                <c:pt idx="1">
                  <c:v>Sponsorship</c:v>
                </c:pt>
                <c:pt idx="2">
                  <c:v>Events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29435</c:v>
                </c:pt>
                <c:pt idx="1">
                  <c:v>25986</c:v>
                </c:pt>
                <c:pt idx="2">
                  <c:v>13500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23-4DD3-84E2-D30F6AD2C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7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1">
                <a:solidFill>
                  <a:srgbClr val="1B365F"/>
                </a:solidFill>
              </a:defRPr>
            </a:pPr>
            <a:r>
              <a:rPr lang="en-US"/>
              <a:t>Event-Level Expenses — FY 2026-27  ($63,485)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 2026-27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B365F"/>
              </a:solidFill>
            </c:spPr>
            <c:extLst>
              <c:ext xmlns:c16="http://schemas.microsoft.com/office/drawing/2014/chart" uri="{C3380CC4-5D6E-409C-BE32-E72D297353CC}">
                <c16:uniqueId val="{00000001-D20C-4026-92F6-906931178EBE}"/>
              </c:ext>
            </c:extLst>
          </c:dPt>
          <c:dPt>
            <c:idx val="1"/>
            <c:invertIfNegative val="1"/>
            <c:bubble3D val="0"/>
            <c:spPr>
              <a:solidFill>
                <a:srgbClr val="1B365F"/>
              </a:solidFill>
            </c:spPr>
            <c:extLst>
              <c:ext xmlns:c16="http://schemas.microsoft.com/office/drawing/2014/chart" uri="{C3380CC4-5D6E-409C-BE32-E72D297353CC}">
                <c16:uniqueId val="{00000003-D20C-4026-92F6-906931178EBE}"/>
              </c:ext>
            </c:extLst>
          </c:dPt>
          <c:dPt>
            <c:idx val="2"/>
            <c:invertIfNegative val="1"/>
            <c:bubble3D val="0"/>
            <c:spPr>
              <a:solidFill>
                <a:srgbClr val="8E44AD"/>
              </a:solidFill>
            </c:spPr>
            <c:extLst>
              <c:ext xmlns:c16="http://schemas.microsoft.com/office/drawing/2014/chart" uri="{C3380CC4-5D6E-409C-BE32-E72D297353CC}">
                <c16:uniqueId val="{00000005-D20C-4026-92F6-906931178EBE}"/>
              </c:ext>
            </c:extLst>
          </c:dPt>
          <c:dPt>
            <c:idx val="3"/>
            <c:invertIfNegative val="1"/>
            <c:bubble3D val="0"/>
            <c:spPr>
              <a:solidFill>
                <a:srgbClr val="1B365F"/>
              </a:solidFill>
            </c:spPr>
            <c:extLst>
              <c:ext xmlns:c16="http://schemas.microsoft.com/office/drawing/2014/chart" uri="{C3380CC4-5D6E-409C-BE32-E72D297353CC}">
                <c16:uniqueId val="{00000007-D20C-4026-92F6-906931178EBE}"/>
              </c:ext>
            </c:extLst>
          </c:dPt>
          <c:dPt>
            <c:idx val="4"/>
            <c:invertIfNegative val="1"/>
            <c:bubble3D val="0"/>
            <c:spPr>
              <a:solidFill>
                <a:srgbClr val="6C757D"/>
              </a:solidFill>
            </c:spPr>
            <c:extLst>
              <c:ext xmlns:c16="http://schemas.microsoft.com/office/drawing/2014/chart" uri="{C3380CC4-5D6E-409C-BE32-E72D297353CC}">
                <c16:uniqueId val="{00000009-D20C-4026-92F6-906931178EBE}"/>
              </c:ext>
            </c:extLst>
          </c:dPt>
          <c:dPt>
            <c:idx val="5"/>
            <c:invertIfNegative val="1"/>
            <c:bubble3D val="0"/>
            <c:spPr>
              <a:solidFill>
                <a:srgbClr val="1B365F"/>
              </a:solidFill>
            </c:spPr>
            <c:extLst>
              <c:ext xmlns:c16="http://schemas.microsoft.com/office/drawing/2014/chart" uri="{C3380CC4-5D6E-409C-BE32-E72D297353CC}">
                <c16:uniqueId val="{0000000B-D20C-4026-92F6-906931178EBE}"/>
              </c:ext>
            </c:extLst>
          </c:dPt>
          <c:dPt>
            <c:idx val="6"/>
            <c:invertIfNegative val="1"/>
            <c:bubble3D val="0"/>
            <c:spPr>
              <a:solidFill>
                <a:srgbClr val="8E44AD"/>
              </a:solidFill>
            </c:spPr>
            <c:extLst>
              <c:ext xmlns:c16="http://schemas.microsoft.com/office/drawing/2014/chart" uri="{C3380CC4-5D6E-409C-BE32-E72D297353CC}">
                <c16:uniqueId val="{0000000D-D20C-4026-92F6-906931178EBE}"/>
              </c:ext>
            </c:extLst>
          </c:dPt>
          <c:dPt>
            <c:idx val="7"/>
            <c:invertIfNegative val="1"/>
            <c:bubble3D val="0"/>
            <c:spPr>
              <a:solidFill>
                <a:srgbClr val="2E86AB"/>
              </a:solidFill>
            </c:spPr>
            <c:extLst>
              <c:ext xmlns:c16="http://schemas.microsoft.com/office/drawing/2014/chart" uri="{C3380CC4-5D6E-409C-BE32-E72D297353CC}">
                <c16:uniqueId val="{0000000F-D20C-4026-92F6-906931178EBE}"/>
              </c:ext>
            </c:extLst>
          </c:dPt>
          <c:dPt>
            <c:idx val="8"/>
            <c:invertIfNegative val="1"/>
            <c:bubble3D val="0"/>
            <c:spPr>
              <a:solidFill>
                <a:srgbClr val="2E86AB"/>
              </a:solidFill>
            </c:spPr>
            <c:extLst>
              <c:ext xmlns:c16="http://schemas.microsoft.com/office/drawing/2014/chart" uri="{C3380CC4-5D6E-409C-BE32-E72D297353CC}">
                <c16:uniqueId val="{00000011-D20C-4026-92F6-906931178EBE}"/>
              </c:ext>
            </c:extLst>
          </c:dPt>
          <c:dPt>
            <c:idx val="9"/>
            <c:invertIfNegative val="1"/>
            <c:bubble3D val="0"/>
            <c:spPr>
              <a:solidFill>
                <a:srgbClr val="C58C2B"/>
              </a:solidFill>
            </c:spPr>
            <c:extLst>
              <c:ext xmlns:c16="http://schemas.microsoft.com/office/drawing/2014/chart" uri="{C3380CC4-5D6E-409C-BE32-E72D297353CC}">
                <c16:uniqueId val="{00000013-D20C-4026-92F6-906931178EBE}"/>
              </c:ext>
            </c:extLst>
          </c:dPt>
          <c:dPt>
            <c:idx val="10"/>
            <c:invertIfNegative val="1"/>
            <c:bubble3D val="0"/>
            <c:spPr>
              <a:solidFill>
                <a:srgbClr val="27AE60"/>
              </a:solidFill>
            </c:spPr>
            <c:extLst>
              <c:ext xmlns:c16="http://schemas.microsoft.com/office/drawing/2014/chart" uri="{C3380CC4-5D6E-409C-BE32-E72D297353CC}">
                <c16:uniqueId val="{00000015-D20C-4026-92F6-906931178EBE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1">
                    <a:solidFill>
                      <a:srgbClr val="2D374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Durga Puja</c:v>
                </c:pt>
                <c:pt idx="1">
                  <c:v>Kali Pujo + Magazine</c:v>
                </c:pt>
                <c:pt idx="2">
                  <c:v>Spandan</c:v>
                </c:pt>
                <c:pt idx="3">
                  <c:v>Saraswati Puja</c:v>
                </c:pt>
                <c:pt idx="4">
                  <c:v>Storage</c:v>
                </c:pt>
                <c:pt idx="5">
                  <c:v>Mahalaya</c:v>
                </c:pt>
                <c:pt idx="6">
                  <c:v>Nabo Borsho</c:v>
                </c:pt>
                <c:pt idx="7">
                  <c:v>Winter Picnic</c:v>
                </c:pt>
                <c:pt idx="8">
                  <c:v>Sports Day / Tennis</c:v>
                </c:pt>
                <c:pt idx="9">
                  <c:v>Workshops</c:v>
                </c:pt>
                <c:pt idx="10">
                  <c:v>Charity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33136</c:v>
                </c:pt>
                <c:pt idx="1">
                  <c:v>8138</c:v>
                </c:pt>
                <c:pt idx="2">
                  <c:v>4576</c:v>
                </c:pt>
                <c:pt idx="3">
                  <c:v>4086</c:v>
                </c:pt>
                <c:pt idx="4">
                  <c:v>2470</c:v>
                </c:pt>
                <c:pt idx="5">
                  <c:v>2330</c:v>
                </c:pt>
                <c:pt idx="6">
                  <c:v>1743</c:v>
                </c:pt>
                <c:pt idx="7">
                  <c:v>1259</c:v>
                </c:pt>
                <c:pt idx="8">
                  <c:v>1247</c:v>
                </c:pt>
                <c:pt idx="9">
                  <c:v>2500</c:v>
                </c:pt>
                <c:pt idx="10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D20C-4026-92F6-906931178E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>
                <a:solidFill>
                  <a:srgbClr val="2D374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3810">
              <a:solidFill>
                <a:srgbClr val="CBD5E0"/>
              </a:solidFill>
            </a:ln>
          </c:spPr>
        </c:majorGridlines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600">
                <a:solidFill>
                  <a:srgbClr val="2D374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900" b="1">
                <a:solidFill>
                  <a:srgbClr val="1B365F"/>
                </a:solidFill>
              </a:defRPr>
            </a:pPr>
            <a:r>
              <a:rPr lang="en-US"/>
              <a:t>Expense by Category — $63,485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</c:v>
                </c:pt>
              </c:strCache>
            </c:strRef>
          </c:tx>
          <c:dPt>
            <c:idx val="0"/>
            <c:bubble3D val="0"/>
            <c:spPr>
              <a:solidFill>
                <a:srgbClr val="1B365F"/>
              </a:solidFill>
            </c:spPr>
            <c:extLst>
              <c:ext xmlns:c16="http://schemas.microsoft.com/office/drawing/2014/chart" uri="{C3380CC4-5D6E-409C-BE32-E72D297353CC}">
                <c16:uniqueId val="{00000001-D36A-4DB2-8B08-DE5D49726F25}"/>
              </c:ext>
            </c:extLst>
          </c:dPt>
          <c:dPt>
            <c:idx val="1"/>
            <c:bubble3D val="0"/>
            <c:spPr>
              <a:solidFill>
                <a:srgbClr val="8E44AD"/>
              </a:solidFill>
            </c:spPr>
            <c:extLst>
              <c:ext xmlns:c16="http://schemas.microsoft.com/office/drawing/2014/chart" uri="{C3380CC4-5D6E-409C-BE32-E72D297353CC}">
                <c16:uniqueId val="{00000003-D36A-4DB2-8B08-DE5D49726F25}"/>
              </c:ext>
            </c:extLst>
          </c:dPt>
          <c:dPt>
            <c:idx val="2"/>
            <c:bubble3D val="0"/>
            <c:spPr>
              <a:solidFill>
                <a:srgbClr val="2E86AB"/>
              </a:solidFill>
            </c:spPr>
            <c:extLst>
              <c:ext xmlns:c16="http://schemas.microsoft.com/office/drawing/2014/chart" uri="{C3380CC4-5D6E-409C-BE32-E72D297353CC}">
                <c16:uniqueId val="{00000005-D36A-4DB2-8B08-DE5D49726F25}"/>
              </c:ext>
            </c:extLst>
          </c:dPt>
          <c:dPt>
            <c:idx val="3"/>
            <c:bubble3D val="0"/>
            <c:spPr>
              <a:solidFill>
                <a:srgbClr val="6C757D"/>
              </a:solidFill>
            </c:spPr>
            <c:extLst>
              <c:ext xmlns:c16="http://schemas.microsoft.com/office/drawing/2014/chart" uri="{C3380CC4-5D6E-409C-BE32-E72D297353CC}">
                <c16:uniqueId val="{00000007-D36A-4DB2-8B08-DE5D49726F25}"/>
              </c:ext>
            </c:extLst>
          </c:dPt>
          <c:dPt>
            <c:idx val="4"/>
            <c:bubble3D val="0"/>
            <c:spPr>
              <a:solidFill>
                <a:srgbClr val="C58C2B"/>
              </a:solidFill>
            </c:spPr>
            <c:extLst>
              <c:ext xmlns:c16="http://schemas.microsoft.com/office/drawing/2014/chart" uri="{C3380CC4-5D6E-409C-BE32-E72D297353CC}">
                <c16:uniqueId val="{00000009-D36A-4DB2-8B08-DE5D49726F25}"/>
              </c:ext>
            </c:extLst>
          </c:dPt>
          <c:dPt>
            <c:idx val="5"/>
            <c:bubble3D val="0"/>
            <c:spPr>
              <a:solidFill>
                <a:srgbClr val="27AE60"/>
              </a:solidFill>
            </c:spPr>
            <c:extLst>
              <c:ext xmlns:c16="http://schemas.microsoft.com/office/drawing/2014/chart" uri="{C3380CC4-5D6E-409C-BE32-E72D297353CC}">
                <c16:uniqueId val="{0000000B-D36A-4DB2-8B08-DE5D49726F25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Religious</c:v>
                </c:pt>
                <c:pt idx="1">
                  <c:v>Cultural</c:v>
                </c:pt>
                <c:pt idx="2">
                  <c:v>Social</c:v>
                </c:pt>
                <c:pt idx="3">
                  <c:v>Admin</c:v>
                </c:pt>
                <c:pt idx="4">
                  <c:v>Educational</c:v>
                </c:pt>
                <c:pt idx="5">
                  <c:v>Community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47690</c:v>
                </c:pt>
                <c:pt idx="1">
                  <c:v>6319</c:v>
                </c:pt>
                <c:pt idx="2">
                  <c:v>2506</c:v>
                </c:pt>
                <c:pt idx="3">
                  <c:v>2470</c:v>
                </c:pt>
                <c:pt idx="4">
                  <c:v>2500</c:v>
                </c:pt>
                <c:pt idx="5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36A-4DB2-8B08-DE5D49726F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BANF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Comprehensive Budget Analysis &amp; Financial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297680"/>
            <a:ext cx="39620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44444"/>
                </a:solidFill>
              </a:defRPr>
            </a:pPr>
            <a:r>
              <a:t>📅  February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📋 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772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1463039"/>
            <a:ext cx="548640" cy="54864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44751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2D2D"/>
                </a:solidFill>
              </a:defRPr>
            </a:pPr>
            <a:r>
              <a:t>Financial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44444"/>
                </a:solidFill>
              </a:defRPr>
            </a:pPr>
            <a:r>
              <a:t>Current position, KPI dashboard &amp; IRS 509(a)(2)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112772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447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5877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9631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2D2D"/>
                </a:solidFill>
              </a:defRPr>
            </a:pPr>
            <a:r>
              <a:t>Proposed Budget FY2026-27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39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44444"/>
                </a:solidFill>
              </a:defRPr>
            </a:pPr>
            <a:r>
              <a:t>Membership tiers &amp; fees, event access matrix, income/expense projections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83279"/>
            <a:ext cx="112772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1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4787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2D2D"/>
                </a:solidFill>
              </a:defRPr>
            </a:pPr>
            <a:r>
              <a:t>Strategic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862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44444"/>
                </a:solidFill>
              </a:defRPr>
            </a:pPr>
            <a:r>
              <a:t>Digital transformation, membership engagement &amp; community outreach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112772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6908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99431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2D2D"/>
                </a:solidFill>
              </a:defRPr>
            </a:pPr>
            <a:r>
              <a:t>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37759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44444"/>
                </a:solidFill>
              </a:defRPr>
            </a:pPr>
            <a:r>
              <a:t>Open discussion, motions &amp; voting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112772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080" y="5669280"/>
            <a:ext cx="548640" cy="54864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7424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65099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2D2D"/>
                </a:solidFill>
              </a:defRPr>
            </a:pPr>
            <a:r>
              <a:t>Q&amp;A &amp; Closing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893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44444"/>
                </a:solidFill>
              </a:defRPr>
            </a:pPr>
            <a:r>
              <a:t>Questions, answers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1146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F"/>
                </a:solidFill>
                <a:latin typeface="Segoe UI"/>
              </a:defRPr>
            </a:pPr>
            <a:r>
              <a:t>Current Financial Position (Snapshot)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00"/>
            <a:ext cx="1146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egoe UI"/>
              </a:defRPr>
            </a:pPr>
            <a:r>
              <a:t>End of 2024-26 EC Term  |  Assets &amp; Fund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702552"/>
            <a:ext cx="11643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BANF  |  FY 2026-27  | 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50000"/>
            <a:ext cx="5547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65F"/>
                </a:solidFill>
                <a:latin typeface="Segoe UI"/>
              </a:defRPr>
            </a:pPr>
            <a:r>
              <a:t>📊 Total Assets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616111"/>
              </p:ext>
            </p:extLst>
          </p:nvPr>
        </p:nvGraphicFramePr>
        <p:xfrm>
          <a:off x="365760" y="1050000"/>
          <a:ext cx="5547359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3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Bank Account Balance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Prepaid – Website Hosting (2 yrs)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Prepaid – Holi 2026 Venue Deposit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dirty="0"/>
                        <a:t>Receivable </a:t>
                      </a:r>
                      <a:r>
                        <a:t>– Sponsorship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B365F"/>
                          </a:solidFill>
                          <a:latin typeface="Segoe UI"/>
                        </a:defRPr>
                      </a:pPr>
                      <a:r>
                        <a:t>TOTAL ASSETS</a:t>
                      </a:r>
                    </a:p>
                  </a:txBody>
                  <a:tcPr>
                    <a:solidFill>
                      <a:srgbClr val="F9F1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F"/>
                          </a:solidFill>
                          <a:latin typeface="Segoe UI"/>
                        </a:defRPr>
                      </a:pPr>
                      <a:r>
                        <a:rPr dirty="0"/>
                        <a:t>$4,819</a:t>
                      </a:r>
                    </a:p>
                  </a:txBody>
                  <a:tcPr>
                    <a:solidFill>
                      <a:srgbClr val="F9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78880" y="750000"/>
            <a:ext cx="5547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65F"/>
                </a:solidFill>
                <a:latin typeface="Segoe UI"/>
              </a:defRPr>
            </a:pPr>
            <a:r>
              <a:t>💰 Fund Allocation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78880" y="1050000"/>
          <a:ext cx="5547360" cy="1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5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Fund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Operating Fund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$3,022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Available for operations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5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Thakur Bahini 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$1,797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Designated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5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B365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9F1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F"/>
                          </a:solidFill>
                          <a:latin typeface="Segoe UI"/>
                        </a:defRPr>
                      </a:pPr>
                      <a:r>
                        <a:t>$4,819</a:t>
                      </a:r>
                    </a:p>
                  </a:txBody>
                  <a:tcPr>
                    <a:solidFill>
                      <a:srgbClr val="F9F1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endParaRPr/>
                    </a:p>
                  </a:txBody>
                  <a:tcPr>
                    <a:solidFill>
                      <a:srgbClr val="F9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2500000"/>
            <a:ext cx="3576320" cy="60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500000"/>
            <a:ext cx="3576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73152"/>
            <a:ext cx="33934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Segoe UI"/>
              </a:defRPr>
            </a:pPr>
            <a:r>
              <a:t>Zero Liabilities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80000"/>
            <a:ext cx="33934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No outstanding</a:t>
            </a:r>
            <a:br/>
            <a:r>
              <a:t>obligations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7840" y="2500000"/>
            <a:ext cx="3576320" cy="60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7840" y="2500000"/>
            <a:ext cx="35763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9280" y="2573152"/>
            <a:ext cx="33934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Segoe UI"/>
              </a:defRPr>
            </a:pPr>
            <a:r>
              <a:t>$3,022 Operating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9280" y="2780000"/>
            <a:ext cx="33934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Available for</a:t>
            </a:r>
            <a:br/>
            <a:r>
              <a:t>immediate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9920" y="2500000"/>
            <a:ext cx="3576320" cy="60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49920" y="2500000"/>
            <a:ext cx="3576320" cy="54864"/>
          </a:xfrm>
          <a:prstGeom prst="rect">
            <a:avLst/>
          </a:prstGeom>
          <a:solidFill>
            <a:srgbClr val="C58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1360" y="2573152"/>
            <a:ext cx="33934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8C2B"/>
                </a:solidFill>
                <a:latin typeface="Segoe UI"/>
              </a:defRPr>
            </a:pPr>
            <a:r>
              <a:t>$1,797 Designated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1360" y="2780000"/>
            <a:ext cx="33934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Thakur Bahini</a:t>
            </a:r>
            <a:br/>
            <a:r>
              <a:t>designated fund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0861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2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201168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82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📊  Financial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68980"/>
            <a:ext cx="1082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Segoe UI"/>
              </a:defRPr>
            </a:pPr>
            <a:r>
              <a:t>3 EC Terms at a Glance  •  Assets $4,819  •  Equity 3.68×  •  Fee Drivers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537960"/>
            <a:ext cx="1082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BANF Budget Presentation  |  FY 2026-27  |  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2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1752" y="73152"/>
            <a:ext cx="11588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F"/>
                </a:solidFill>
                <a:latin typeface="Segoe UI"/>
              </a:defRPr>
            </a:pPr>
            <a:r>
              <a:t>Financial Health &amp; KPI Dashboard — FY 2020 to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329184"/>
            <a:ext cx="115884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6-Year Performance Trends  |  BANF Financial Analysis  |  Sources: Financial Summary PPTs + SaraswatiPuja2026.xlsx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6665976"/>
            <a:ext cx="1173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Segoe UI"/>
              </a:defRPr>
            </a:pPr>
            <a:r>
              <a:t>BANF  |  FY 2026-27  |  Financial Health KPI Dashboard  |  Note: Volunteer concentration data not available in financial records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82880" y="502920"/>
          <a:ext cx="58521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153912" y="502920"/>
          <a:ext cx="58521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182880" y="2560320"/>
          <a:ext cx="58521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153912" y="2560320"/>
          <a:ext cx="58521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97D"/>
                </a:solidFill>
              </a:defRPr>
            </a:pPr>
            <a:r>
              <a:t>⚖️  IRS 509(a)(2) Public Charity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501(c)(3) Section 509(a)(2) | EIN: 45-0591164 | Effective: April 7, 2008 | Public Support &gt;33.33% 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51560"/>
            <a:ext cx="5897880" cy="233172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589788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5715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📜 Historical Events → 509(a)(2) Compliance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497D"/>
                </a:solidFill>
              </a:defRPr>
            </a:pPr>
            <a:r>
              <a:t>Event (Since 2008)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497D"/>
                </a:solidFill>
              </a:defRPr>
            </a:pPr>
            <a: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44475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497D"/>
                </a:solidFill>
              </a:defRPr>
            </a:pPr>
            <a: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44752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497D"/>
                </a:solidFill>
              </a:defRPr>
            </a:pPr>
            <a:r>
              <a:t>509(a)(2)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64208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Durga Puja (2008-Present)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664208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Religious/Cultural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66420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Program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6420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48235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865376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Kali Puja (2008-Present)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1865376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Religious/Cultural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865376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Program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6537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48235"/>
                </a:solidFill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066544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Saraswati Puja (2008-Present)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066544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Religious/Educational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066544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Program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06654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48235"/>
                </a:solidFill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267712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Spandan (Youth Cultural)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267712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Educational/Youth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26771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Program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267712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48235"/>
                </a:solidFill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2468880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Sports Day/Picnic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2468880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Community Building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246888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Program 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46888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48235"/>
                </a:solidFill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670048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Nabo Borsho (New Year)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670048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Cultural Preservation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267004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Program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67004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48235"/>
                </a:solidFill>
              </a:defRPr>
            </a:pPr>
            <a: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2871216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Winter Picnic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2871216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Community Building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2871216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D2D2D"/>
                </a:solidFill>
              </a:defRPr>
            </a:pPr>
            <a:r>
              <a:t>Program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287121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48235"/>
                </a:solidFill>
              </a:defRPr>
            </a:pPr>
            <a:r>
              <a:t>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1051560"/>
            <a:ext cx="5486400" cy="2331720"/>
          </a:xfrm>
          <a:prstGeom prst="roundRect">
            <a:avLst/>
          </a:prstGeom>
          <a:solidFill>
            <a:srgbClr val="F8FFF8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1051560"/>
            <a:ext cx="5486400" cy="34747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107899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📊 509(a)(2) Public Support Test (FY 2024-25)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44475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48235"/>
                </a:solidFill>
              </a:defRPr>
            </a:pPr>
            <a:r>
              <a:t>SOURCE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44475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48235"/>
                </a:solidFill>
              </a:defRPr>
            </a:pPr>
            <a:r>
              <a:t>AMOUNT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14447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48235"/>
                </a:solidFill>
              </a:defRPr>
            </a:pPr>
            <a:r>
              <a:t>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1444752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48235"/>
                </a:solidFill>
              </a:defRPr>
            </a:pPr>
            <a:r>
              <a:t>COUNTS?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1645920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Membership Dues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164592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$23,885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64592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39%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164592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48235"/>
                </a:solidFill>
              </a:defRPr>
            </a:pPr>
            <a:r>
              <a:t>✅ Yes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1847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Sponsorships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184708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$25,986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184708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42%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1847088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48235"/>
                </a:solidFill>
              </a:defRPr>
            </a:pPr>
            <a:r>
              <a:t>✅ Yes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2048256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Event Ticket Sales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204825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$10,892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204825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18%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2048256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48235"/>
                </a:solidFill>
              </a:defRPr>
            </a:pPr>
            <a:r>
              <a:t>✅ 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22494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Other Program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224942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$1,000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224942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224942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48235"/>
                </a:solidFill>
              </a:defRPr>
            </a:pPr>
            <a:r>
              <a:t>✅ Yes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245059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─────────────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245059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─────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24505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───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2450592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─────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2651760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2D2D"/>
                </a:solidFill>
              </a:defRPr>
            </a:pPr>
            <a:r>
              <a:t>PUBLIC SUPPORT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265176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2D2D"/>
                </a:solidFill>
              </a:defRPr>
            </a:pPr>
            <a:r>
              <a:t>$61,763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265176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2D2D"/>
                </a:solidFill>
              </a:defRPr>
            </a:pPr>
            <a:r>
              <a:t>100%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265176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48235"/>
                </a:solidFill>
              </a:defRPr>
            </a:pPr>
            <a:r>
              <a:t>✅ PASS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285292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Investment Income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285292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$0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28529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D2D2D"/>
                </a:solidFill>
              </a:defRPr>
            </a:pPr>
            <a:r>
              <a:t>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0" y="2852928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48235"/>
                </a:solidFill>
              </a:defRPr>
            </a:pPr>
            <a:r>
              <a:t>✅ &lt;33%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" y="3474720"/>
            <a:ext cx="11475720" cy="150876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0040" y="3474720"/>
            <a:ext cx="11475720" cy="32004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11480" y="3493008"/>
            <a:ext cx="11292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🎯 509(a)(2) Qualifying Activity Categories — BANF Historical Events Mapped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384048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D2D2D"/>
                </a:solidFill>
              </a:defRPr>
            </a:pPr>
            <a:r>
              <a:t>🛕 Religious (Exempt)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Durga Puja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Kali Puja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Saraswati Puja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Lakshmi Puja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Mahalaya 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37560" y="384048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D2D2D"/>
                </a:solidFill>
              </a:defRPr>
            </a:pPr>
            <a:r>
              <a:t>🎭 Cultural (Exempt)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Nabo Borsho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Spandan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Rabindra Jayanti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Cultural Workshop 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384048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D2D2D"/>
                </a:solidFill>
              </a:defRPr>
            </a:pPr>
            <a:r>
              <a:t>📚 Educational (Exempt)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Bengali Classes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Youth Programs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Heritage Camp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t>  • Art/Music 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98280" y="3840480"/>
            <a:ext cx="274320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D2D2D"/>
                </a:solidFill>
              </a:defRPr>
            </a:pPr>
            <a:r>
              <a:rPr dirty="0"/>
              <a:t>🤝 Community (Exempt)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rPr dirty="0"/>
              <a:t>  • Sports Day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rPr dirty="0"/>
              <a:t>  • Winter Picnic ✅</a:t>
            </a:r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endParaRPr dirty="0"/>
          </a:p>
          <a:p>
            <a:pPr>
              <a:spcBef>
                <a:spcPts val="100"/>
              </a:spcBef>
              <a:defRPr sz="700">
                <a:solidFill>
                  <a:srgbClr val="548235"/>
                </a:solidFill>
              </a:defRPr>
            </a:pPr>
            <a:r>
              <a:rPr dirty="0"/>
              <a:t>  • </a:t>
            </a:r>
            <a:r>
              <a:rPr lang="en-US" dirty="0"/>
              <a:t>Beach Clean</a:t>
            </a:r>
            <a:r>
              <a:rPr dirty="0"/>
              <a:t>✅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0040" y="5074920"/>
            <a:ext cx="11475720" cy="1234440"/>
          </a:xfrm>
          <a:prstGeom prst="roundRect">
            <a:avLst/>
          </a:prstGeom>
          <a:solidFill>
            <a:srgbClr val="F8F8FF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20040" y="5074920"/>
            <a:ext cx="11475720" cy="2926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11480" y="5093208"/>
            <a:ext cx="11292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✅ BANF 509(a)(2) Compliance Status — 17 Years Continuous (2008-2025)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541324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Public Support &gt;33.33%: PASS</a:t>
            </a:r>
          </a:p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Investment Income &lt;33.33%: PASS</a:t>
            </a:r>
          </a:p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Form 990 Filed Annually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80" y="541324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Religious Purpose: Active</a:t>
            </a:r>
          </a:p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Educational Purpose: Active</a:t>
            </a:r>
          </a:p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Cultural Purpose: Active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38160" y="541324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No Private Inurement</a:t>
            </a:r>
          </a:p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Public Accessibility: Yes</a:t>
            </a:r>
          </a:p>
          <a:p>
            <a:pPr>
              <a:spcBef>
                <a:spcPts val="200"/>
              </a:spcBef>
              <a:defRPr sz="800">
                <a:solidFill>
                  <a:srgbClr val="548235"/>
                </a:solidFill>
              </a:defRPr>
            </a:pPr>
            <a:r>
              <a:t>✅ State Registration: Current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0861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2000" cy="54864"/>
          </a:xfrm>
          <a:prstGeom prst="rect">
            <a:avLst/>
          </a:prstGeom>
          <a:solidFill>
            <a:srgbClr val="C58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2011680" cy="457200"/>
          </a:xfrm>
          <a:prstGeom prst="rect">
            <a:avLst/>
          </a:prstGeom>
          <a:solidFill>
            <a:srgbClr val="C58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82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💰  Proposed Budget FY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68980"/>
            <a:ext cx="1082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Segoe UI"/>
              </a:defRPr>
            </a:pPr>
            <a:r>
              <a:t>7 Membership Categories  •  EB Tier Avg ~7%  •  Every Tier &gt;1.5×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537960"/>
            <a:ext cx="1082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BANF Budget Presentation  |  FY 2026-27  |  February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4877E2-51F0-7860-2F8E-8D49F4AD6BB2}"/>
              </a:ext>
            </a:extLst>
          </p:cNvPr>
          <p:cNvSpPr txBox="1"/>
          <p:nvPr/>
        </p:nvSpPr>
        <p:spPr>
          <a:xfrm>
            <a:off x="288131" y="278066"/>
            <a:ext cx="3894665" cy="38362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membership categories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946A2-CD46-A454-5235-BA6047274F97}"/>
              </a:ext>
            </a:extLst>
          </p:cNvPr>
          <p:cNvSpPr txBox="1"/>
          <p:nvPr/>
        </p:nvSpPr>
        <p:spPr>
          <a:xfrm>
            <a:off x="4309663" y="286532"/>
            <a:ext cx="4047064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New special passes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35AC6-BEAA-DC31-CCB0-BDDF662DC7D6}"/>
              </a:ext>
            </a:extLst>
          </p:cNvPr>
          <p:cNvSpPr txBox="1"/>
          <p:nvPr/>
        </p:nvSpPr>
        <p:spPr>
          <a:xfrm>
            <a:off x="8483594" y="278066"/>
            <a:ext cx="3403605" cy="36668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 Total events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5ABCD-8E2E-896A-54A2-F9115DBAACEA}"/>
              </a:ext>
            </a:extLst>
          </p:cNvPr>
          <p:cNvSpPr txBox="1"/>
          <p:nvPr/>
        </p:nvSpPr>
        <p:spPr>
          <a:xfrm>
            <a:off x="288131" y="860426"/>
            <a:ext cx="11615737" cy="1846659"/>
          </a:xfrm>
          <a:prstGeom prst="rect">
            <a:avLst/>
          </a:prstGeom>
          <a:solidFill>
            <a:srgbClr val="A1ECD9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MEMBERSHIP FEES</a:t>
            </a:r>
          </a:p>
          <a:p>
            <a:pPr marL="342900" indent="-342900">
              <a:buAutoNum type="arabicPeriod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Early Bird premium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(Previously mentioned as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M2 premium </a:t>
            </a:r>
            <a:r>
              <a:rPr lang="en-US" sz="1600" u="sng" dirty="0" err="1">
                <a:latin typeface="Arial" panose="020B0604020202020204" pitchFamily="34" charset="0"/>
                <a:cs typeface="Arial" panose="020B0604020202020204" pitchFamily="34" charset="0"/>
              </a:rPr>
              <a:t>Earlybird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- Covers all 17 events, only available until May 31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Premium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(Previously named as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M2 premium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): Covers all 17 events, available anytime.</a:t>
            </a:r>
          </a:p>
          <a:p>
            <a:pPr marL="342900" indent="-342900"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Regular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(Previously named as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): Covers 11 core events only, pay discounted fees for other events.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A822DB-41F5-FD6E-1C76-981DBA82EADF}"/>
              </a:ext>
            </a:extLst>
          </p:cNvPr>
          <p:cNvSpPr txBox="1"/>
          <p:nvPr/>
        </p:nvSpPr>
        <p:spPr>
          <a:xfrm>
            <a:off x="271462" y="2905825"/>
            <a:ext cx="11615737" cy="2092881"/>
          </a:xfrm>
          <a:prstGeom prst="rect">
            <a:avLst/>
          </a:prstGeom>
          <a:solidFill>
            <a:srgbClr val="A1ECD9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SPECIAL PASSES</a:t>
            </a:r>
          </a:p>
          <a:p>
            <a:pPr marL="342900" indent="-342900">
              <a:buAutoNum type="arabicPeriod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Culture Special Pass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(Previously mentioned as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Culture Special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- Covers cultural events only.</a:t>
            </a:r>
          </a:p>
          <a:p>
            <a:pPr marL="342900" indent="-342900"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Durga Puja Celebration Pass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(Previously named as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DP Special 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): Covers Durga Puja core events and artist performances for both days.</a:t>
            </a:r>
          </a:p>
          <a:p>
            <a:pPr marL="342900" indent="-342900"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Durga Puja Core Pass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(Previously named as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DP Special 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): Covers Durga Puja core events only (No artist)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40DBCE5-52DB-02BE-302D-17FB5C132F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178367"/>
              </p:ext>
            </p:extLst>
          </p:nvPr>
        </p:nvGraphicFramePr>
        <p:xfrm>
          <a:off x="7967663" y="5397500"/>
          <a:ext cx="1773237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715321" imgH="447409" progId="Excel.Sheet.12">
                  <p:embed/>
                </p:oleObj>
              </mc:Choice>
              <mc:Fallback>
                <p:oleObj name="Worksheet" showAsIcon="1" r:id="rId2" imgW="715321" imgH="447409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E46CC9C-68F0-3F2A-A691-31C007AB7C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67663" y="5397500"/>
                        <a:ext cx="1773237" cy="1109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BA34ED5-A707-22AE-B446-0FEF080CE655}"/>
              </a:ext>
            </a:extLst>
          </p:cNvPr>
          <p:cNvSpPr txBox="1"/>
          <p:nvPr/>
        </p:nvSpPr>
        <p:spPr>
          <a:xfrm>
            <a:off x="1300167" y="5574633"/>
            <a:ext cx="5614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**** Please double-tap the excel link for detailed information, if you are interested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D688B1DE-FC66-96F5-DB61-0BA79905125B}"/>
              </a:ext>
            </a:extLst>
          </p:cNvPr>
          <p:cNvSpPr/>
          <p:nvPr/>
        </p:nvSpPr>
        <p:spPr>
          <a:xfrm>
            <a:off x="6450810" y="5574633"/>
            <a:ext cx="807245" cy="42294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15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A0426-AFBE-BA29-811A-05DE6AA3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15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7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1146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F"/>
                </a:solidFill>
                <a:latin typeface="Segoe UI"/>
              </a:defRPr>
            </a:pPr>
            <a:r>
              <a:t>Event Access by Membership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00"/>
            <a:ext cx="1146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egoe UI"/>
              </a:defRPr>
            </a:pPr>
            <a:r>
              <a:t>FY 2026-27  |  ✓ = Included  •  $ = Add-on price  •  — = Not available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29334"/>
              </p:ext>
            </p:extLst>
          </p:nvPr>
        </p:nvGraphicFramePr>
        <p:xfrm>
          <a:off x="274320" y="750000"/>
          <a:ext cx="10595454" cy="426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4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72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2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72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5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M2 🏆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M1 📋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Cultural 🎭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DP-1 🙏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DP-2 🙏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Bosonto Utsob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Mar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86AB"/>
                          </a:solidFill>
                          <a:latin typeface="Segoe UI"/>
                        </a:defRPr>
                      </a:pPr>
                      <a:r>
                        <a:t>Cult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Noboborsho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dirty="0"/>
                        <a:t>Apr </a:t>
                      </a:r>
                      <a:r>
                        <a:rPr lang="en-US" dirty="0"/>
                        <a:t>25</a:t>
                      </a:r>
                      <a:endParaRPr dirty="0"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86AB"/>
                          </a:solidFill>
                          <a:latin typeface="Segoe UI"/>
                        </a:defRPr>
                      </a:pPr>
                      <a:r>
                        <a:t>Cult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rPr dirty="0"/>
                        <a:t>$30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Kids Summer Sports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Jun–Jul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t>Educ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rPr dirty="0"/>
                        <a:t>$45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$50</a:t>
                      </a:r>
                      <a:endParaRPr dirty="0"/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Summer Workshops – Kids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Jun–Jul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t>Educ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rPr dirty="0"/>
                        <a:t>$35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$40</a:t>
                      </a:r>
                      <a:endParaRPr dirty="0"/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Summer Workshops –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Jun–Jul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t>Educ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rPr dirty="0"/>
                        <a:t>$35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$40</a:t>
                      </a:r>
                      <a:endParaRPr dirty="0"/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Sports Day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Jul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AE60"/>
                          </a:solidFill>
                          <a:latin typeface="Segoe UI"/>
                        </a:defRPr>
                      </a:pPr>
                      <a:r>
                        <a:t>Soci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$20</a:t>
                      </a:r>
                      <a:endParaRPr dirty="0"/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Spondon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86AB"/>
                          </a:solidFill>
                          <a:latin typeface="Segoe UI"/>
                        </a:defRPr>
                      </a:pPr>
                      <a:r>
                        <a:t>Cult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Mohaloya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Oct 17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E44AD"/>
                          </a:solidFill>
                          <a:latin typeface="Segoe UI"/>
                        </a:defRPr>
                      </a:pPr>
                      <a:r>
                        <a:t>Reli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b="1" dirty="0"/>
                        <a:t>Durga Puja Day 1&amp;2 + Lunch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Oct 24–25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E44AD"/>
                          </a:solidFill>
                          <a:latin typeface="Segoe UI"/>
                        </a:defRPr>
                      </a:pPr>
                      <a:r>
                        <a:t>Reli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b="1"/>
                        <a:t>Lakshmi Puja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Oct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E44AD"/>
                          </a:solidFill>
                          <a:latin typeface="Segoe UI"/>
                        </a:defRPr>
                      </a:pPr>
                      <a:r>
                        <a:t>Reli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b="1" dirty="0"/>
                        <a:t>Bijoya </a:t>
                      </a:r>
                      <a:r>
                        <a:rPr b="1" dirty="0" err="1"/>
                        <a:t>Sonmiloni</a:t>
                      </a:r>
                      <a:endParaRPr b="1" dirty="0"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Oct 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AE60"/>
                          </a:solidFill>
                          <a:latin typeface="Segoe UI"/>
                        </a:defRPr>
                      </a:pPr>
                      <a:r>
                        <a:t>Soci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—</a:t>
                      </a:r>
                    </a:p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endParaRPr dirty="0"/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dirty="0"/>
                        <a:t>Artist Program – Day 1 + Din…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Oct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86AB"/>
                          </a:solidFill>
                          <a:latin typeface="Segoe UI"/>
                        </a:defRPr>
                      </a:pPr>
                      <a:r>
                        <a:t>Cult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rPr dirty="0"/>
                        <a:t>$35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—</a:t>
                      </a:r>
                    </a:p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endParaRPr dirty="0"/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Artist Program – Day 2 + Din…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Oct 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86AB"/>
                          </a:solidFill>
                          <a:latin typeface="Segoe UI"/>
                        </a:defRPr>
                      </a:pPr>
                      <a:r>
                        <a:t>Cult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Segoe UI"/>
                        </a:defRPr>
                      </a:pPr>
                      <a:r>
                        <a:rPr dirty="0"/>
                        <a:t>$35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—</a:t>
                      </a:r>
                    </a:p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endParaRPr dirty="0"/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Kali Puja + Lunch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dirty="0"/>
                        <a:t>Nov </a:t>
                      </a: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E44AD"/>
                          </a:solidFill>
                          <a:latin typeface="Segoe UI"/>
                        </a:defRPr>
                      </a:pPr>
                      <a:r>
                        <a:t>Reli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99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Natok (Drama) + Dinner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dirty="0"/>
                        <a:t>Nov </a:t>
                      </a: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86AB"/>
                          </a:solidFill>
                          <a:latin typeface="Segoe UI"/>
                        </a:defRPr>
                      </a:pPr>
                      <a:r>
                        <a:t>Cult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Winter Picnic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Jan 11/27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AE60"/>
                          </a:solidFill>
                          <a:latin typeface="Segoe UI"/>
                        </a:defRPr>
                      </a:pPr>
                      <a:r>
                        <a:t>Soci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Saraswati Puja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Feb 27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E44AD"/>
                          </a:solidFill>
                          <a:latin typeface="Segoe UI"/>
                        </a:defRPr>
                      </a:pPr>
                      <a:r>
                        <a:t>Reli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8A49"/>
                          </a:solidFill>
                          <a:latin typeface="Segoe U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95A5A6"/>
                          </a:solidFill>
                          <a:latin typeface="Segoe UI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56032" y="5277549"/>
            <a:ext cx="11643360" cy="28000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4509864"/>
            <a:ext cx="116433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1944" y="5957920"/>
            <a:ext cx="114970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65F"/>
                </a:solidFill>
                <a:latin typeface="Segoe UI"/>
              </a:defRPr>
            </a:pPr>
            <a:r>
              <a:rPr dirty="0"/>
              <a:t>Event Count →  M2 Premium: 17  |  M1 Regular: 11  |  Cultural Special: </a:t>
            </a:r>
            <a:r>
              <a:rPr lang="en-US" dirty="0"/>
              <a:t>5</a:t>
            </a:r>
            <a:r>
              <a:rPr dirty="0"/>
              <a:t>  |  DP Special-1: 6  |  DP Special-2: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6378000"/>
            <a:ext cx="11643360" cy="32000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4844728"/>
            <a:ext cx="36576" cy="3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" y="5590781"/>
            <a:ext cx="11497056" cy="24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💡 M2 Premium includes ALL 17 events. Cultural Special covers 12 events at 3.50× value. DP Specials offer focused Durga Puja access from $150.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430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F"/>
                </a:solidFill>
                <a:latin typeface="Segoe UI"/>
              </a:defRPr>
            </a:pPr>
            <a:r>
              <a:t>Projected Income — FY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164305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Category Revenue Breakdown  |  Sponsorship &amp; Events  |  112 Units  |  ▲ +16.1% vs FY25-26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" y="5806439"/>
            <a:ext cx="2807893" cy="589933"/>
          </a:xfrm>
          <a:prstGeom prst="rect">
            <a:avLst/>
          </a:prstGeom>
          <a:solidFill>
            <a:srgbClr val="FFFFFF"/>
          </a:solidFill>
          <a:ln w="25400">
            <a:solidFill>
              <a:srgbClr val="1B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3" y="5552150"/>
            <a:ext cx="269816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C757D"/>
                </a:solidFill>
                <a:latin typeface="Segoe UI"/>
              </a:defRPr>
            </a:pPr>
            <a:r>
              <a:rPr dirty="0"/>
              <a:t>Membership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5" y="6039612"/>
            <a:ext cx="269816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365F"/>
                </a:solidFill>
                <a:latin typeface="Segoe UI"/>
              </a:defRPr>
            </a:pPr>
            <a:r>
              <a:rPr dirty="0"/>
              <a:t>$29,435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765292"/>
            <a:ext cx="269816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C757D"/>
                </a:solidFill>
                <a:latin typeface="Segoe UI"/>
              </a:defRPr>
            </a:pPr>
            <a:r>
              <a:rPr dirty="0"/>
              <a:t>112 units · 9 categories  (▲ +23.2%)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9373" y="5858256"/>
            <a:ext cx="2807893" cy="511774"/>
          </a:xfrm>
          <a:prstGeom prst="rect">
            <a:avLst/>
          </a:prstGeom>
          <a:solidFill>
            <a:srgbClr val="FFFFFF"/>
          </a:solidFill>
          <a:ln w="25400">
            <a:solidFill>
              <a:srgbClr val="C58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74237" y="5604183"/>
            <a:ext cx="269816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C757D"/>
                </a:solidFill>
                <a:latin typeface="Segoe UI"/>
              </a:defRPr>
            </a:pPr>
            <a:r>
              <a:rPr dirty="0"/>
              <a:t>Sponsorship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3089" y="6011382"/>
            <a:ext cx="269816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58C2B"/>
                </a:solidFill>
                <a:latin typeface="Segoe UI"/>
              </a:defRPr>
            </a:pPr>
            <a:r>
              <a:rPr dirty="0"/>
              <a:t>$25,986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4237" y="5896791"/>
            <a:ext cx="269816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C757D"/>
                </a:solidFill>
                <a:latin typeface="Segoe UI"/>
              </a:defRPr>
            </a:pPr>
            <a:r>
              <a:rPr dirty="0"/>
              <a:t>Platinum/Gold/Silver/Bronze  (▲ +6.1%)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5806438"/>
            <a:ext cx="2807893" cy="563591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9291" y="5595509"/>
            <a:ext cx="269816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C757D"/>
                </a:solidFill>
                <a:latin typeface="Segoe UI"/>
              </a:defRPr>
            </a:pPr>
            <a:r>
              <a:rPr dirty="0"/>
              <a:t>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430" y="6026041"/>
            <a:ext cx="269816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86AB"/>
                </a:solidFill>
                <a:latin typeface="Segoe UI"/>
              </a:defRPr>
            </a:pPr>
            <a:r>
              <a:rPr dirty="0"/>
              <a:t>$13,500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9291" y="5896791"/>
            <a:ext cx="269816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C757D"/>
                </a:solidFill>
                <a:latin typeface="Segoe UI"/>
              </a:defRPr>
            </a:pPr>
            <a:r>
              <a:rPr dirty="0"/>
              <a:t>Guest tickets + M3  (▲ +22.7%)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9481" y="5823276"/>
            <a:ext cx="2807893" cy="513515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64344" y="5640252"/>
            <a:ext cx="269816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C757D"/>
                </a:solidFill>
                <a:latin typeface="Segoe UI"/>
              </a:defRPr>
            </a:pPr>
            <a:r>
              <a:rPr dirty="0"/>
              <a:t>TOTAL INCOME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4345" y="5939173"/>
            <a:ext cx="269816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Segoe UI"/>
              </a:defRPr>
            </a:pPr>
            <a:r>
              <a:rPr dirty="0"/>
              <a:t>$68,921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4345" y="5806440"/>
            <a:ext cx="269816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C757D"/>
                </a:solidFill>
                <a:latin typeface="Segoe UI"/>
              </a:defRPr>
            </a:pPr>
            <a:r>
              <a:t>All streams  (▲ +16.1%)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978" y="6446375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C757D"/>
                </a:solidFill>
                <a:latin typeface="Segoe UI"/>
              </a:defRPr>
            </a:pPr>
            <a:r>
              <a:t>FY25-26 baseline: Membership $23,885 | Sponsorship $24,500 | Events $11,000 | Total $59,385.  82 existing renewed + 30 new members (+$5,550).  Overall ▲ +16.1% year-over-year.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8600" y="6665976"/>
            <a:ext cx="117344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Segoe UI"/>
              </a:defRPr>
            </a:pPr>
            <a:r>
              <a:t>BANF  |  FY 2026-27  |  Projected Income  |  Section 2.4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228600" y="502920"/>
          <a:ext cx="6806007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7126047" y="502920"/>
          <a:ext cx="4837048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91134"/>
              </p:ext>
            </p:extLst>
          </p:nvPr>
        </p:nvGraphicFramePr>
        <p:xfrm>
          <a:off x="274320" y="3114009"/>
          <a:ext cx="11734493" cy="2544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9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vs FY25-26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D3748"/>
                          </a:solidFill>
                        </a:rPr>
                        <a:t>M2 Early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$10,070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0E7C46"/>
                          </a:solidFill>
                        </a:rPr>
                        <a:t>▲ +16.4%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D3748"/>
                          </a:solidFill>
                        </a:rPr>
                        <a:t>M2 Premium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$2,490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0E7C46"/>
                          </a:solidFill>
                        </a:rPr>
                        <a:t>▲ +16.9%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D3748"/>
                          </a:solidFill>
                        </a:rPr>
                        <a:t>M1 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$6,065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0E7C46"/>
                          </a:solidFill>
                        </a:rPr>
                        <a:t>▲ +16.2%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D3748"/>
                          </a:solidFill>
                        </a:rPr>
                        <a:t>Cultural Special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$1,825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0E7C46"/>
                          </a:solidFill>
                        </a:rPr>
                        <a:t>▲ +17.0%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D3748"/>
                          </a:solidFill>
                        </a:rPr>
                        <a:t>DP Special-1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$2,195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0E7C46"/>
                          </a:solidFill>
                        </a:rPr>
                        <a:t>▲ +16.8%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D3748"/>
                          </a:solidFill>
                        </a:rPr>
                        <a:t>DP Special-2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$1,240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0E7C46"/>
                          </a:solidFill>
                        </a:rPr>
                        <a:t>▲ +16.4%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B365F"/>
                          </a:solidFill>
                        </a:rPr>
                        <a:t>Subtotal (Existing 82)</a:t>
                      </a:r>
                    </a:p>
                  </a:txBody>
                  <a:tcPr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B365F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>
                          <a:solidFill>
                            <a:srgbClr val="1B365F"/>
                          </a:solidFill>
                        </a:rPr>
                        <a:t>$23,885</a:t>
                      </a:r>
                    </a:p>
                  </a:txBody>
                  <a:tcPr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0E7C46"/>
                          </a:solidFill>
                        </a:rPr>
                        <a:t>▲ +16.5%</a:t>
                      </a:r>
                    </a:p>
                  </a:txBody>
                  <a:tcPr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 dirty="0">
                          <a:solidFill>
                            <a:srgbClr val="27AE60"/>
                          </a:solidFill>
                        </a:rPr>
                        <a:t>Cultural (New)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$1,800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8E44AD"/>
                          </a:solidFill>
                        </a:rPr>
                        <a:t>🆕 NEW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7AE60"/>
                          </a:solidFill>
                        </a:rPr>
                        <a:t>DP w/Artist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$2,250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8E44AD"/>
                          </a:solidFill>
                        </a:rPr>
                        <a:t>🆕 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333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7AE60"/>
                          </a:solidFill>
                        </a:rPr>
                        <a:t>DP w/o Artist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D3748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0">
                          <a:solidFill>
                            <a:srgbClr val="2D3748"/>
                          </a:solidFill>
                        </a:rPr>
                        <a:t>$1,500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8E44AD"/>
                          </a:solidFill>
                        </a:rPr>
                        <a:t>🆕 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337">
                <a:tc>
                  <a:txBody>
                    <a:bodyPr/>
                    <a:lstStyle/>
                    <a:p>
                      <a:pPr algn="l"/>
                      <a:r>
                        <a:rPr sz="750" b="1" dirty="0">
                          <a:solidFill>
                            <a:srgbClr val="FFFFFF"/>
                          </a:solidFill>
                        </a:rPr>
                        <a:t>TOTAL MEMBERSHIP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</a:rPr>
                        <a:t>$29,435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A0FFA0"/>
                          </a:solidFill>
                        </a:rPr>
                        <a:t>▲ +23.2%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430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F"/>
                </a:solidFill>
                <a:latin typeface="Segoe UI"/>
              </a:defRPr>
            </a:pPr>
            <a:r>
              <a:t>Projected Expenses — FY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164305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11 Events  |  6 Categories  |  ▲ +13.1% vs FY25-26  |  Inflation + Tariff + 2 New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632" y="3200400"/>
            <a:ext cx="480046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65F"/>
                </a:solidFill>
                <a:latin typeface="Segoe UI"/>
              </a:defRPr>
            </a:pPr>
            <a:r>
              <a:t>Category Subtotals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2632" y="3474720"/>
            <a:ext cx="480046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5784" y="3493008"/>
            <a:ext cx="288027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748"/>
                </a:solidFill>
                <a:latin typeface="Segoe UI"/>
              </a:defRPr>
            </a:pPr>
            <a:r>
              <a:t>🕉️ Religious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5784" y="3639312"/>
            <a:ext cx="24002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65F"/>
                </a:solidFill>
                <a:latin typeface="Segoe UI"/>
              </a:defRPr>
            </a:pPr>
            <a:r>
              <a:t>$47,690 (75%)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886" y="3547872"/>
            <a:ext cx="192018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C757D"/>
                </a:solidFill>
                <a:latin typeface="Segoe UI"/>
              </a:defRPr>
            </a:pPr>
            <a:r>
              <a:t>4 events  ▲ +5.1%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2632" y="3858768"/>
            <a:ext cx="480046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35784" y="3877055"/>
            <a:ext cx="288027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748"/>
                </a:solidFill>
                <a:latin typeface="Segoe UI"/>
              </a:defRPr>
            </a:pPr>
            <a:r>
              <a:t>🎭 Cultural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5784" y="4023359"/>
            <a:ext cx="24002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E44AD"/>
                </a:solidFill>
                <a:latin typeface="Segoe UI"/>
              </a:defRPr>
            </a:pPr>
            <a:r>
              <a:t>$6,319 (10%)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886" y="3931920"/>
            <a:ext cx="192018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C757D"/>
                </a:solidFill>
                <a:latin typeface="Segoe UI"/>
              </a:defRPr>
            </a:pPr>
            <a:r>
              <a:t>2 events  ▲ +5.0%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2632" y="4242816"/>
            <a:ext cx="480046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5784" y="4261103"/>
            <a:ext cx="288027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748"/>
                </a:solidFill>
                <a:latin typeface="Segoe UI"/>
              </a:defRPr>
            </a:pPr>
            <a:r>
              <a:t>🎉 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5784" y="4407407"/>
            <a:ext cx="24002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$2,506 (4%)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886" y="4315968"/>
            <a:ext cx="192018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C757D"/>
                </a:solidFill>
                <a:latin typeface="Segoe UI"/>
              </a:defRPr>
            </a:pPr>
            <a:r>
              <a:t>2 events  ▲ +5.0%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2632" y="4626864"/>
            <a:ext cx="480046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5784" y="4645151"/>
            <a:ext cx="288027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748"/>
                </a:solidFill>
                <a:latin typeface="Segoe UI"/>
              </a:defRPr>
            </a:pPr>
            <a:r>
              <a:t>📚 Educational + 🤝 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5784" y="4791455"/>
            <a:ext cx="24002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7AE60"/>
                </a:solidFill>
                <a:latin typeface="Segoe UI"/>
              </a:defRPr>
            </a:pPr>
            <a:r>
              <a:t>$4,500 (7%)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886" y="4700016"/>
            <a:ext cx="192018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C757D"/>
                </a:solidFill>
                <a:latin typeface="Segoe UI"/>
              </a:defRPr>
            </a:pPr>
            <a:r>
              <a:t>🆕 Workshops $2,500 + Charity $2,000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62632" y="5010912"/>
            <a:ext cx="480046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5784" y="5029199"/>
            <a:ext cx="288027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748"/>
                </a:solidFill>
                <a:latin typeface="Segoe UI"/>
              </a:defRPr>
            </a:pPr>
            <a:r>
              <a:t>⚙️ Admin/Overhead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5784" y="5175503"/>
            <a:ext cx="24002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757D"/>
                </a:solidFill>
                <a:latin typeface="Segoe UI"/>
              </a:defRPr>
            </a:pPr>
            <a:r>
              <a:t>$2,470 (4%)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886" y="5084064"/>
            <a:ext cx="192018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C757D"/>
                </a:solidFill>
                <a:latin typeface="Segoe UI"/>
              </a:defRPr>
            </a:pPr>
            <a:r>
              <a:t>Storage  ▲ +5.0%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59552"/>
            <a:ext cx="3850538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192" y="5596128"/>
            <a:ext cx="37042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C757D"/>
                </a:solidFill>
                <a:latin typeface="Segoe UI"/>
              </a:defRPr>
            </a:pPr>
            <a:r>
              <a:t>Total Projected Income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" y="5779008"/>
            <a:ext cx="37042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Segoe UI"/>
              </a:defRPr>
            </a:pPr>
            <a:r>
              <a:t>$68,921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2018" y="5559552"/>
            <a:ext cx="3850538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C58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35170" y="5596128"/>
            <a:ext cx="37042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C757D"/>
                </a:solidFill>
                <a:latin typeface="Segoe UI"/>
              </a:defRPr>
            </a:pPr>
            <a:r>
              <a:t>Total Projected Expense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5170" y="5779008"/>
            <a:ext cx="37042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58C2B"/>
                </a:solidFill>
                <a:latin typeface="Segoe UI"/>
              </a:defRPr>
            </a:pPr>
            <a:r>
              <a:t>$63,485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03996" y="5559552"/>
            <a:ext cx="3850538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7148" y="5596128"/>
            <a:ext cx="37042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C757D"/>
                </a:solidFill>
                <a:latin typeface="Segoe UI"/>
              </a:defRPr>
            </a:pPr>
            <a:r>
              <a:t>Projected Surplus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7148" y="5779008"/>
            <a:ext cx="37042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Segoe UI"/>
              </a:defRPr>
            </a:pPr>
            <a:r>
              <a:t>$5,436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" y="6665976"/>
            <a:ext cx="117344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Segoe UI"/>
              </a:defRPr>
            </a:pPr>
            <a:r>
              <a:t>BANF  |  FY 2026-27  |  Projected Expenses  |  Section 2.4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228600" y="502920"/>
          <a:ext cx="6571317" cy="2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6891357" y="502920"/>
          <a:ext cx="5071738" cy="2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1752" y="73152"/>
            <a:ext cx="115881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F"/>
                </a:solidFill>
                <a:latin typeface="Segoe UI"/>
              </a:defRPr>
            </a:pPr>
            <a:r>
              <a:t>Strategic Vision — FY 2026-27 and Beyond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329184"/>
            <a:ext cx="115881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Three Strategic Pillars for Organizational Growth and Community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685800"/>
            <a:ext cx="3789578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685800"/>
            <a:ext cx="3789578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3748"/>
                </a:solidFill>
                <a:latin typeface="Segoe UI"/>
              </a:defRPr>
            </a:pPr>
            <a:r>
              <a:t>🖥️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22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PILLAR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35152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65F"/>
                </a:solidFill>
                <a:latin typeface="Segoe UI"/>
              </a:defRPr>
            </a:pPr>
            <a:r>
              <a:t>Digital Transformation</a:t>
            </a:r>
            <a:br/>
            <a:r>
              <a:t>&amp; Process 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3515258" cy="228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920240"/>
            <a:ext cx="351525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Digitize organizational archives — historical records, financial documents, and cultural artifacts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Automate membership management with online enrollment, renewals, and tier selection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Implement digital event registration and ticketing system with QR-based check-in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Streamline financial reporting and treasury management with automated dashboards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Build a centralized knowledge base for institutional memory and succession planning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1058" y="685800"/>
            <a:ext cx="3789578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1058" y="685800"/>
            <a:ext cx="3789578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38218" y="822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3748"/>
                </a:solidFill>
                <a:latin typeface="Segoe UI"/>
              </a:defRPr>
            </a:pPr>
            <a: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5418" y="822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E44AD"/>
                </a:solidFill>
                <a:latin typeface="Segoe UI"/>
              </a:defRPr>
            </a:pPr>
            <a:r>
              <a:t>PILLAR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8218" y="1234440"/>
            <a:ext cx="35152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65F"/>
                </a:solidFill>
                <a:latin typeface="Segoe UI"/>
              </a:defRPr>
            </a:pPr>
            <a:r>
              <a:t>Diversifying Membership</a:t>
            </a:r>
            <a:br/>
            <a:r>
              <a:t>Engagement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8218" y="1783080"/>
            <a:ext cx="3515258" cy="228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38218" y="1920240"/>
            <a:ext cx="351525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Youth engagement — targeted programs, mentorship, and leadership roles for next-generation Bengalis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Senior &amp; parent outreach — culturally relevant social, wellness, and community-health programs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Non-Bengali Hindu families — welcoming broader South Asian community with shared cultural values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Bangladeshi Bengali community — inclusive cultural bridge-building through shared language and heritage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Cross-club collaboration — partnerships with Bengali associations in Orlando, Tampa, and across Central Florida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3516" y="685800"/>
            <a:ext cx="3789578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73516" y="685800"/>
            <a:ext cx="3789578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10676" y="822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3748"/>
                </a:solidFill>
                <a:latin typeface="Segoe UI"/>
              </a:defRPr>
            </a:pPr>
            <a:r>
              <a:t>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7876" y="822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7AE60"/>
                </a:solidFill>
                <a:latin typeface="Segoe UI"/>
              </a:defRPr>
            </a:pPr>
            <a:r>
              <a:t>PILLAR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676" y="1234440"/>
            <a:ext cx="35152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65F"/>
                </a:solidFill>
                <a:latin typeface="Segoe UI"/>
              </a:defRPr>
            </a:pPr>
            <a:r>
              <a:t>Expanding Social &amp;</a:t>
            </a:r>
            <a:br/>
            <a:r>
              <a:t>Cultural Outreach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0676" y="1783080"/>
            <a:ext cx="3515258" cy="228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0676" y="1920240"/>
            <a:ext cx="351525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Establish BANF as a recognized cultural anchor and civic partner in Greater Orlando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Pursue interfaith and multicultural partnerships to foster cross-community dialogue and understanding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Develop community service initiatives — from food drives to cultural education — that extend impact beyond the Bengali diaspora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Collaborate with local arts councils, schools, libraries, and civic organizations to amplify cultural programming</a:t>
            </a:r>
          </a:p>
          <a:p>
            <a:pPr algn="l">
              <a:spcBef>
                <a:spcPts val="200"/>
              </a:spcBef>
              <a:spcAft>
                <a:spcPts val="500"/>
              </a:spcAft>
              <a:defRPr sz="800" b="0">
                <a:solidFill>
                  <a:srgbClr val="2D3748"/>
                </a:solidFill>
                <a:latin typeface="Segoe UI"/>
              </a:defRPr>
            </a:pPr>
            <a:r>
              <a:t>• Build a sustainable outreach model that celebrates heritage while engaging diverse audiences and sponsors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355080"/>
            <a:ext cx="117344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65F"/>
                </a:solidFill>
                <a:latin typeface="Segoe UI"/>
              </a:defRPr>
            </a:pPr>
            <a:r>
              <a:t>"Preserving heritage, building bridges, and fostering a more connected and inclusive community"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8600" y="6665976"/>
            <a:ext cx="117344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Segoe UI"/>
              </a:defRPr>
            </a:pPr>
            <a:r>
              <a:t>BANF  |  FY 2026-27  |  Strategic Vision  |  Three Pillars for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8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38647" y="11887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Segoe UI"/>
              </a:defRPr>
            </a:pPr>
            <a:r>
              <a:t>🏛️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BOT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58C2B"/>
                </a:solidFill>
                <a:latin typeface="Segoe UI"/>
              </a:defRPr>
            </a:pPr>
            <a:r>
              <a:t>Board of Trustees Discussion &amp; Q‍&amp;‍A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3474720"/>
            <a:ext cx="2743200" cy="36576"/>
          </a:xfrm>
          <a:prstGeom prst="rect">
            <a:avLst/>
          </a:prstGeom>
          <a:solidFill>
            <a:srgbClr val="C58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794760"/>
            <a:ext cx="8534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▸  Budget approval for FY 2026-27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8534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▸  Membership tier &amp; pricing ratification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26280"/>
            <a:ext cx="8534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▸  Strategic vision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92040"/>
            <a:ext cx="8534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▸  Open floor — questions &amp;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58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38647" y="13716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1B365F"/>
                </a:solidFill>
                <a:latin typeface="Segoe UI"/>
              </a:defRPr>
            </a:pPr>
            <a:r>
              <a:t>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365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58C2B"/>
                </a:solidFill>
                <a:latin typeface="Segoe UI"/>
              </a:defRPr>
            </a:pPr>
            <a:r>
              <a:t>Bengali Association of North Florida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3611880"/>
            <a:ext cx="3657600" cy="32004"/>
          </a:xfrm>
          <a:prstGeom prst="rect">
            <a:avLst/>
          </a:prstGeom>
          <a:solidFill>
            <a:srgbClr val="C58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6C757D"/>
                </a:solidFill>
                <a:latin typeface="Segoe UI"/>
              </a:defRPr>
            </a:pPr>
            <a:r>
              <a:t>FY 2026-27 Budget Presentation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100" b="0">
                <a:solidFill>
                  <a:srgbClr val="6C757D"/>
                </a:solidFill>
                <a:latin typeface="Segoe UI"/>
              </a:defRPr>
            </a:pPr>
            <a:r>
              <a:t>Prepared for the General Body Meeting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365F"/>
                </a:solidFill>
                <a:latin typeface="Segoe UI"/>
              </a:defRPr>
            </a:pPr>
            <a:r>
              <a:t>"Preserving heritage · Building bridges · Fostering community"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1886</Words>
  <Application>Microsoft Office PowerPoint</Application>
  <PresentationFormat>Widescreen</PresentationFormat>
  <Paragraphs>468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Ghosh, Ranadhir</dc:creator>
  <cp:keywords/>
  <dc:description>generated using python-pptx</dc:description>
  <cp:lastModifiedBy>Dr Moumita Ghosh</cp:lastModifiedBy>
  <cp:revision>8</cp:revision>
  <dcterms:created xsi:type="dcterms:W3CDTF">2013-01-27T09:14:16Z</dcterms:created>
  <dcterms:modified xsi:type="dcterms:W3CDTF">2026-03-09T14:40:32Z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e1e58c1-766d-4ff4-9619-b604fc37898b_Enabled">
    <vt:lpwstr>true</vt:lpwstr>
  </property>
  <property fmtid="{D5CDD505-2E9C-101B-9397-08002B2CF9AE}" pid="3" name="MSIP_Label_9e1e58c1-766d-4ff4-9619-b604fc37898b_SetDate">
    <vt:lpwstr>2026-02-19T23:48:47Z</vt:lpwstr>
  </property>
  <property fmtid="{D5CDD505-2E9C-101B-9397-08002B2CF9AE}" pid="4" name="MSIP_Label_9e1e58c1-766d-4ff4-9619-b604fc37898b_Method">
    <vt:lpwstr>Standard</vt:lpwstr>
  </property>
  <property fmtid="{D5CDD505-2E9C-101B-9397-08002B2CF9AE}" pid="5" name="MSIP_Label_9e1e58c1-766d-4ff4-9619-b604fc37898b_Name">
    <vt:lpwstr>Internal Use</vt:lpwstr>
  </property>
  <property fmtid="{D5CDD505-2E9C-101B-9397-08002B2CF9AE}" pid="6" name="MSIP_Label_9e1e58c1-766d-4ff4-9619-b604fc37898b_SiteId">
    <vt:lpwstr>e3ff91d8-34c8-4b15-a0b4-18910a6ac575</vt:lpwstr>
  </property>
  <property fmtid="{D5CDD505-2E9C-101B-9397-08002B2CF9AE}" pid="7" name="MSIP_Label_9e1e58c1-766d-4ff4-9619-b604fc37898b_ActionId">
    <vt:lpwstr>bd629493-6f96-4880-94b2-dc5506ee0e1f</vt:lpwstr>
  </property>
  <property fmtid="{D5CDD505-2E9C-101B-9397-08002B2CF9AE}" pid="8" name="MSIP_Label_9e1e58c1-766d-4ff4-9619-b604fc37898b_ContentBits">
    <vt:lpwstr>0</vt:lpwstr>
  </property>
  <property fmtid="{D5CDD505-2E9C-101B-9397-08002B2CF9AE}" pid="9" name="MSIP_Label_9e1e58c1-766d-4ff4-9619-b604fc37898b_Tag">
    <vt:lpwstr>10, 3, 0, 1</vt:lpwstr>
  </property>
</Properties>
</file>